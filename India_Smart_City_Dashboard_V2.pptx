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VINIT/.gemini/antigravity/brain/e5752129-664a-428e-b221-0af45ce62023/future_smart_city_177584301652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 Smart City Dashboard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645160000" dist="322580000" dir="486000000000">
              <a:srgbClr val="000000">
                <a:alpha val="15000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Prakalp 4.0: Centralized Urban Infrastructure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Transforming Fragmented Systems into Active Intelligence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Urban Crisis: Data Fragmentation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193532000000" dist="4096766000000" dir="29160000000000000">
              <a:srgbClr val="000000">
                <a:alpha val="1500000000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Massive Data Silos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Traffic, Water, and Safety run on entirely separate legacy systems.</a:t>
            </a:r>
            <a:endParaRPr lang="en-US" sz="15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Catastrophic Response Latency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Lack of immediate cross-department alarms stalls emergency units.</a:t>
            </a:r>
            <a:endParaRPr lang="en-US" sz="15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Severe Resource Wastage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Undetected reservoir leaks result in millions of liters lost daily.</a:t>
            </a:r>
            <a:endParaRPr lang="en-US" sz="1500" dirty="0"/>
          </a:p>
        </p:txBody>
      </p:sp>
      <p:pic>
        <p:nvPicPr>
          <p:cNvPr id="5" name="Image 0" descr="WhatsApp Image 2026-04-08 at 16.01.52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097280"/>
            <a:ext cx="3383280" cy="3657600"/>
          </a:xfrm>
          <a:prstGeom prst="ellipse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Solution: The Command Center</a:t>
            </a:r>
            <a:endParaRPr lang="en-US" sz="2600" dirty="0"/>
          </a:p>
        </p:txBody>
      </p:sp>
      <p:pic>
        <p:nvPicPr>
          <p:cNvPr id="3" name="Image 0" descr="WhatsApp Image 2026-04-08 at 16.01.53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3840480" cy="3657600"/>
          </a:xfrm>
          <a:prstGeom prst="ellipse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0" y="109728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4057856400000000" dist="52028928200000000" dir="1.7496e+21">
              <a:srgbClr val="000000">
                <a:alpha val="150000000000000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754880" y="128016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Single Pane of Glass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Overlaying 8 city verticals into one fluid mapping reality.</a:t>
            </a:r>
            <a:endParaRPr lang="en-US" sz="15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Actionable Real-Time Execution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From static end-of-day reports to 3-second live IoT sensor streams.</a:t>
            </a:r>
            <a:endParaRPr lang="en-US" sz="15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Interoperability Protocol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</a:rPr>
              <a:t>API layers convert fragmented legacy databases into modern structures.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Modules &amp; Conversational AI</a:t>
            </a:r>
            <a:endParaRPr lang="en-US" sz="2600" dirty="0"/>
          </a:p>
        </p:txBody>
      </p:sp>
      <p:pic>
        <p:nvPicPr>
          <p:cNvPr id="3" name="Image 0" descr="WhatsApp Image 2026-04-08 at 16.01.55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097280"/>
            <a:ext cx="3383280" cy="3657600"/>
          </a:xfrm>
          <a:prstGeom prst="ellipse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4572000" cy="21031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.32153477628e+21" dist="660767388140000000000" dir="1.04976e+26">
              <a:srgbClr val="000000">
                <a:alpha val="1.5e+24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1280160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Traffic: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Live congestion and velocity logs.
</a:t>
            </a:r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Environment: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Localized AQI tracking.
</a:t>
            </a:r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Utilities: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Predictive reservoir leak detection.
</a:t>
            </a:r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</a:rPr>
              <a:t>Safety: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Live CCTV parsing.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3383280"/>
            <a:ext cx="4572000" cy="137160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1.6783491658756e+25" dist="8.391745829378e+24" dir="6.29856e+30">
              <a:srgbClr val="000000">
                <a:alpha val="1.5e+29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34747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2.5 Flash Chatbot Integration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384048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Administrators seamlessly prompt: 'List all offline CCTVs in Zone 4' and instantly trigger maintenance dispatches bypassing manual UI hunting.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Architecture: Data &amp; Intelligence Flow</a:t>
            </a:r>
            <a:endParaRPr lang="en-US" sz="2600" dirty="0"/>
          </a:p>
        </p:txBody>
      </p:sp>
      <p:pic>
        <p:nvPicPr>
          <p:cNvPr id="3" name="Image 0" descr="C:/Users/VINIT/.gemini/antigravity/brain/e5752129-664a-428e-b221-0af45ce62023/ai_command_center_1775843033056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0" b="0"/>
          <a:stretch/>
        </p:blipFill>
        <p:spPr>
          <a:xfrm>
            <a:off x="0" y="73152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Hardware Edge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14400" y="1645920"/>
            <a:ext cx="1828800" cy="731520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2.1315034406620118e+29" dist="1.0657517203310059e+29" dir="3.779136e+35">
              <a:srgbClr val="000000">
                <a:alpha val="1.4999999999999999e+34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645920"/>
            <a:ext cx="18288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Live IoT Sensors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CCTV &amp; Feeds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834640" y="1828800"/>
            <a:ext cx="731520" cy="365760"/>
          </a:xfrm>
          <a:prstGeom prst="rightArrow">
            <a:avLst/>
          </a:prstGeom>
          <a:solidFill>
            <a:srgbClr val="0F172A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Server Routing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657600" y="1645920"/>
            <a:ext cx="1828800" cy="731520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2.707009369640755e+33" dist="1.3535046848203775e+33" dir="2.2674816e+40">
              <a:srgbClr val="000000">
                <a:alpha val="1.5e+39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0" y="1645920"/>
            <a:ext cx="18288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Next.js App Router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API / WebSockets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577840" y="1828800"/>
            <a:ext cx="731520" cy="365760"/>
          </a:xfrm>
          <a:prstGeom prst="rightArrow">
            <a:avLst/>
          </a:prstGeom>
          <a:solidFill>
            <a:srgbClr val="0F172A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Data Core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0" y="1645920"/>
            <a:ext cx="1828800" cy="731520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3.437901899443759e+37" dist="1.7189509497218795e+37" dir="1.36048896e+45">
              <a:srgbClr val="000000">
                <a:alpha val="1.5e+44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0" y="1645920"/>
            <a:ext cx="1828800" cy="731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Prisma ORM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SQLite / PostGIS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06240" y="2560320"/>
            <a:ext cx="731520" cy="548640"/>
          </a:xfrm>
          <a:prstGeom prst="leftArrow">
            <a:avLst/>
          </a:prstGeom>
          <a:solidFill>
            <a:srgbClr val="0F172A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3291840"/>
            <a:ext cx="1828800" cy="109728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/>
          <a:effectLst>
            <a:outerShdw sx="100000" sy="100000" kx="0" ky="0" algn="bl" rotWithShape="0" blurRad="4.366135412293574e+41" dist="2.183067706146787e+41" dir="8.16293376e+49">
              <a:srgbClr val="000000">
                <a:alpha val="1.4999999999999999e+49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657600" y="3291840"/>
            <a:ext cx="1828800" cy="1097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Gemini 2.5 Flash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NL Intelligence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132320" y="2560320"/>
            <a:ext cx="365760" cy="548640"/>
          </a:xfrm>
          <a:prstGeom prst="downArrow">
            <a:avLst/>
          </a:prstGeom>
          <a:solidFill>
            <a:srgbClr val="0F172A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43600" y="3291840"/>
            <a:ext cx="2743200" cy="109728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5.544991973612839e+45" dist="2.7724959868064195e+45" dir="4.897760256e+54">
              <a:srgbClr val="000000">
                <a:alpha val="1.4999999999999998e+54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943600" y="3291840"/>
            <a:ext cx="2743200" cy="1097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City UI Deck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Zustand Cache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shadcn/ui Render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669280" y="3657600"/>
            <a:ext cx="182880" cy="365760"/>
          </a:xfrm>
          <a:prstGeom prst="rightArrow">
            <a:avLst/>
          </a:prstGeom>
          <a:solidFill>
            <a:srgbClr val="0F172A"/>
          </a:solidFill>
          <a:ln w="254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Plan &amp; Real Impact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.042139806488305e+49" dist="3.5210699032441527e+49" dir="2.9386561536e+59">
              <a:srgbClr val="000000">
                <a:alpha val="1.4999999999999998e+59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Rollout Phases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Phase 1: Deploy core UI &amp; connect test AQI sensors.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Phase 2: Database transition to PostgreSQL+PostGIS.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Phase 3: Rollout Admin/Officer portals securely.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4023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108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Tangible ROI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40% Emergency Response Reduction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25% Energy &amp; Utility Conservation</a:t>
            </a:r>
            <a:endParaRPr lang="en-US" sz="1600" dirty="0"/>
          </a:p>
        </p:txBody>
      </p:sp>
      <p:pic>
        <p:nvPicPr>
          <p:cNvPr id="9" name="Image 0" descr="WhatsApp Image 2026-04-08 at 23.06.1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097280"/>
            <a:ext cx="3383280" cy="3657600"/>
          </a:xfrm>
          <a:prstGeom prst="ellipse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Future Scope &amp; Urban Vision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2011680"/>
            <a:ext cx="2377440" cy="25603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.943517554240149e+53" dist="4.471758777120074e+53" dir="1.76319369216e+64">
              <a:srgbClr val="000000">
                <a:alpha val="1.4999999999999998e+64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22860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Predictive Routing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AI algorithms to adjust traffic grid lights preemptively based on weather variables.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383280" y="2011680"/>
            <a:ext cx="2377440" cy="25603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1358267293884988e+58" dist="5.679133646942494e+57" dir="1.057916215296e+69">
              <a:srgbClr val="000000">
                <a:alpha val="1.4999999999999997e+69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83280" y="22860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Drone Dispatch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Autonomous IoT-triggered drone mapping before fire engines arrive.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35040" y="2011680"/>
            <a:ext cx="2377440" cy="25603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4424999463233936e+62" dist="7.212499731616968e+61" dir="6.347497291776e+73">
              <a:srgbClr val="000000">
                <a:alpha val="1.4999999999999997e+7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0" y="22860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Nation-Wide Scale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Open-source deployment model allowing seamless cloning for every Indian state.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2026-04-10T17:44:50Z</dcterms:created>
  <dcterms:modified xsi:type="dcterms:W3CDTF">2026-04-10T17:44:50Z</dcterms:modified>
</cp:coreProperties>
</file>