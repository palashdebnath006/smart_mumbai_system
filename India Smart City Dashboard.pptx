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Relationship Id="rId10" Type="http://schemas.openxmlformats.org/officeDocument/2006/relationships/image" Target="../media/image32.png"/><Relationship Id="rId11" Type="http://schemas.openxmlformats.org/officeDocument/2006/relationships/image" Target="../media/image33.png"/><Relationship Id="rId12" Type="http://schemas.openxmlformats.org/officeDocument/2006/relationships/image" Target="../media/image34.png"/><Relationship Id="rId13" Type="http://schemas.openxmlformats.org/officeDocument/2006/relationships/image" Target="../media/image35.png"/><Relationship Id="rId14" Type="http://schemas.openxmlformats.org/officeDocument/2006/relationships/image" Target="../media/image36.png"/><Relationship Id="rId15" Type="http://schemas.openxmlformats.org/officeDocument/2006/relationships/image" Target="../media/image37.png"/><Relationship Id="rId16" Type="http://schemas.openxmlformats.org/officeDocument/2006/relationships/image" Target="../media/image38.png"/><Relationship Id="rId17" Type="http://schemas.openxmlformats.org/officeDocument/2006/relationships/image" Target="../media/image39.png"/><Relationship Id="rId18" Type="http://schemas.openxmlformats.org/officeDocument/2006/relationships/image" Target="../media/image40.png"/><Relationship Id="rId19" Type="http://schemas.openxmlformats.org/officeDocument/2006/relationships/image" Target="../media/image41.png"/><Relationship Id="rId20" Type="http://schemas.openxmlformats.org/officeDocument/2006/relationships/image" Target="../media/image42.png"/><Relationship Id="rId21" Type="http://schemas.openxmlformats.org/officeDocument/2006/relationships/image" Target="../media/image4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Relationship Id="rId8" Type="http://schemas.openxmlformats.org/officeDocument/2006/relationships/image" Target="../media/image5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2E8F0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1980" y="0"/>
            <a:ext cx="2428814" cy="342900"/>
          </a:xfrm>
          <a:prstGeom prst="roundRect">
            <a:avLst>
              <a:gd name="adj" fmla="val 555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1980" y="0"/>
            <a:ext cx="2428814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PROJECT COMPETITION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647699"/>
            <a:ext cx="10667733" cy="1523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5200"/>
              </a:lnSpc>
              <a:spcBef>
                <a:spcPts val="0"/>
              </a:spcBef>
              <a:spcAft>
                <a:spcPts val="1040"/>
              </a:spcAft>
            </a:pPr>
            <a:r>
              <a:rPr sz="3827" b="1">
                <a:solidFill>
                  <a:srgbClr val="111827"/>
                </a:solidFill>
                <a:latin typeface="Inter"/>
                <a:rFonts ascii="Inter" hAnsi="Inter" eastAsia="Inter" cs="Inter"/>
              </a:rPr>
              <a:t> India Smart City</a:t>
            </a:r>
            <a:r>
              <a:rPr sz="1104"/>
              <a:t>
</a:t>
            </a:r>
            <a:r>
              <a:rPr sz="3827" b="1">
                <a:solidFill>
                  <a:srgbClr val="111827"/>
                </a:solidFill>
                <a:latin typeface="Inter"/>
                <a:rFonts ascii="Inter" hAnsi="Inter" eastAsia="Inter" cs="Inter"/>
              </a:rPr>
              <a:t> </a:t>
            </a:r>
            <a:r>
              <a:rPr sz="3827" b="1">
                <a:solidFill>
                  <a:srgbClr val="2563EB"/>
                </a:solidFill>
                <a:latin typeface="Inter"/>
                <a:rFonts ascii="Inter" hAnsi="Inter" eastAsia="Inter" cs="Inter"/>
              </a:rPr>
              <a:t>Dashboard</a:t>
            </a:r>
            <a:r>
              <a:rPr sz="3827" b="1">
                <a:solidFill>
                  <a:srgbClr val="111827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2324100"/>
            <a:ext cx="7315017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3120"/>
              </a:spcAft>
            </a:pPr>
            <a:r>
              <a:rPr sz="1315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A Unified Platform for Real-Time Urban Monitoring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1980" y="3095625"/>
            <a:ext cx="1962100" cy="1628775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 rot="16200000">
            <a:off x="13633" y="3843972"/>
            <a:ext cx="16287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28674" y="3383756"/>
            <a:ext cx="228594" cy="18573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33466" y="3381375"/>
            <a:ext cx="36194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Cities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674" y="3705224"/>
            <a:ext cx="1466813" cy="6000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095"/>
              </a:lnSpc>
              <a:spcBef>
                <a:spcPts val="0"/>
              </a:spcBef>
              <a:spcAft>
                <a:spcPts val="0"/>
              </a:spcAft>
            </a:pPr>
            <a:r>
              <a:rPr sz="2511" b="1">
                <a:solidFill>
                  <a:srgbClr val="111827"/>
                </a:solidFill>
                <a:latin typeface="Roboto Mono"/>
                <a:rFonts ascii="Roboto Mono" hAnsi="Roboto Mono" eastAsia="Roboto Mono" cs="Roboto Mono"/>
              </a:rPr>
              <a:t>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674" y="4343400"/>
            <a:ext cx="146681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Smart Cities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52676" y="3095625"/>
            <a:ext cx="1962100" cy="1628775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 rot="16200000">
            <a:off x="2204329" y="3843972"/>
            <a:ext cx="16287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219369" y="3390899"/>
            <a:ext cx="228594" cy="1714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524161" y="3381375"/>
            <a:ext cx="50481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Avg AQI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19369" y="3705224"/>
            <a:ext cx="1466813" cy="6000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095"/>
              </a:lnSpc>
              <a:spcBef>
                <a:spcPts val="0"/>
              </a:spcBef>
              <a:spcAft>
                <a:spcPts val="0"/>
              </a:spcAft>
            </a:pPr>
            <a:r>
              <a:rPr sz="2511" b="1">
                <a:solidFill>
                  <a:srgbClr val="111827"/>
                </a:solidFill>
                <a:latin typeface="Roboto Mono"/>
                <a:rFonts ascii="Roboto Mono" hAnsi="Roboto Mono" eastAsia="Roboto Mono" cs="Roboto Mono"/>
              </a:rPr>
              <a:t>115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19369" y="4343400"/>
            <a:ext cx="146681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Air Quality Index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43371" y="3095625"/>
            <a:ext cx="1962100" cy="1628775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 rot="16200000">
            <a:off x="4395024" y="3843972"/>
            <a:ext cx="16287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410064" y="3379470"/>
            <a:ext cx="228594" cy="19430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714857" y="3381375"/>
            <a:ext cx="38099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Water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10064" y="3705224"/>
            <a:ext cx="1466813" cy="6000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095"/>
              </a:lnSpc>
              <a:spcBef>
                <a:spcPts val="0"/>
              </a:spcBef>
              <a:spcAft>
                <a:spcPts val="0"/>
              </a:spcAft>
            </a:pPr>
            <a:r>
              <a:rPr sz="2511" b="1">
                <a:solidFill>
                  <a:srgbClr val="111827"/>
                </a:solidFill>
                <a:latin typeface="Roboto Mono"/>
                <a:rFonts ascii="Roboto Mono" hAnsi="Roboto Mono" eastAsia="Roboto Mono" cs="Roboto Mono"/>
              </a:rPr>
              <a:t>18.5K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10064" y="4343400"/>
            <a:ext cx="146681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Liters/Day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34066" y="3095625"/>
            <a:ext cx="1962100" cy="1628775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 Same Side Corner Rectangle 25"/>
          <p:cNvSpPr/>
          <p:nvPr/>
        </p:nvSpPr>
        <p:spPr>
          <a:xfrm rot="16200000">
            <a:off x="6585719" y="3843972"/>
            <a:ext cx="16287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600759" y="3395186"/>
            <a:ext cx="228594" cy="16287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905552" y="3381375"/>
            <a:ext cx="40956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Speed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00759" y="3705224"/>
            <a:ext cx="1466813" cy="6000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095"/>
              </a:lnSpc>
              <a:spcBef>
                <a:spcPts val="0"/>
              </a:spcBef>
              <a:spcAft>
                <a:spcPts val="0"/>
              </a:spcAft>
            </a:pPr>
            <a:r>
              <a:rPr sz="2511" b="1">
                <a:solidFill>
                  <a:srgbClr val="111827"/>
                </a:solidFill>
                <a:latin typeface="Roboto Mono"/>
                <a:rFonts ascii="Roboto Mono" hAnsi="Roboto Mono" eastAsia="Roboto Mono" cs="Roboto Mono"/>
              </a:rPr>
              <a:t>28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00759" y="4343400"/>
            <a:ext cx="146681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km/h Avg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61980" y="6662608"/>
            <a:ext cx="228594" cy="4788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66773" y="6515100"/>
            <a:ext cx="340986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4B5563"/>
                </a:solidFill>
                <a:latin typeface="Inter"/>
                <a:rFonts ascii="Inter" hAnsi="Inter" eastAsia="Inter" cs="Inter"/>
              </a:rPr>
              <a:t>Real-Time Urban Monitoring System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6773" y="6705600"/>
            <a:ext cx="340986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India Smart Cities Mission | Ministry of Housing &amp; Urban Affairs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58128" y="6591300"/>
            <a:ext cx="157158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Version 1.0 |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2E8F0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14300"/>
            <a:ext cx="351463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11827"/>
                </a:solidFill>
                <a:latin typeface="Inter"/>
                <a:rFonts ascii="Inter" hAnsi="Inter" eastAsia="Inter" cs="Inter"/>
              </a:rPr>
              <a:t>Problem &amp;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09625"/>
            <a:ext cx="6095847" cy="6048375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584" y="1676400"/>
            <a:ext cx="533386" cy="533399"/>
          </a:xfrm>
          <a:prstGeom prst="roundRect">
            <a:avLst>
              <a:gd name="adj" fmla="val 35710714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33406" y="1826467"/>
            <a:ext cx="285742" cy="2332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367" y="1714500"/>
            <a:ext cx="1885902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111827"/>
                </a:solidFill>
                <a:latin typeface="Inter"/>
                <a:rFonts ascii="Inter" hAnsi="Inter" eastAsia="Inter" cs="Inter"/>
              </a:rPr>
              <a:t>The Problem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584" y="255270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179" y="2438400"/>
            <a:ext cx="3190795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Indian cities are </a:t>
            </a:r>
            <a:r>
              <a:rPr sz="1315" b="1">
                <a:solidFill>
                  <a:srgbClr val="111827"/>
                </a:solidFill>
                <a:latin typeface="Inter"/>
                <a:rFonts ascii="Inter" hAnsi="Inter" eastAsia="Inter" cs="Inter"/>
              </a:rPr>
              <a:t>growing rapidly</a:t>
            </a:r>
            <a:r>
              <a:rPr sz="1315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584" y="308610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179" y="2971800"/>
            <a:ext cx="341938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Urban management is </a:t>
            </a:r>
            <a:r>
              <a:rPr sz="1315" b="1">
                <a:solidFill>
                  <a:srgbClr val="111827"/>
                </a:solidFill>
                <a:latin typeface="Inter"/>
                <a:rFonts ascii="Inter" hAnsi="Inter" eastAsia="Inter" cs="Inter"/>
              </a:rPr>
              <a:t>fragmented</a:t>
            </a:r>
            <a:r>
              <a:rPr sz="1315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584" y="3609975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179" y="3495675"/>
            <a:ext cx="4648083" cy="685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Traffic, air quality, and water distribution managed in </a:t>
            </a:r>
            <a:r>
              <a:rPr sz="1315" b="1">
                <a:solidFill>
                  <a:srgbClr val="111827"/>
                </a:solidFill>
                <a:latin typeface="Inter"/>
                <a:rFonts ascii="Inter" hAnsi="Inter" eastAsia="Inter" cs="Inter"/>
              </a:rPr>
              <a:t>silos</a:t>
            </a:r>
            <a:r>
              <a:rPr sz="1315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584" y="4486275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179" y="4371975"/>
            <a:ext cx="4648083" cy="685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No unified platform for </a:t>
            </a:r>
            <a:r>
              <a:rPr sz="1315" b="1">
                <a:solidFill>
                  <a:srgbClr val="111827"/>
                </a:solidFill>
                <a:latin typeface="Inter"/>
                <a:rFonts ascii="Inter" hAnsi="Inter" eastAsia="Inter" cs="Inter"/>
              </a:rPr>
              <a:t>real-time decision-making</a:t>
            </a:r>
            <a:r>
              <a:rPr sz="1315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584" y="5353049"/>
            <a:ext cx="4876678" cy="638175"/>
          </a:xfrm>
          <a:prstGeom prst="roundRect">
            <a:avLst>
              <a:gd name="adj" fmla="val 2388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356537" y="5606096"/>
            <a:ext cx="6381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38179" y="5584031"/>
            <a:ext cx="228594" cy="18573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81070" y="5543550"/>
            <a:ext cx="1971625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B91C1C"/>
                </a:solidFill>
                <a:latin typeface="Inter"/>
                <a:rFonts ascii="Inter" hAnsi="Inter" eastAsia="Inter" cs="Inter"/>
              </a:rPr>
              <a:t>Fragmented Urban 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05432" y="2019299"/>
            <a:ext cx="533386" cy="533399"/>
          </a:xfrm>
          <a:prstGeom prst="roundRect">
            <a:avLst>
              <a:gd name="adj" fmla="val 35710714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829254" y="2163535"/>
            <a:ext cx="285742" cy="24492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91215" y="2057400"/>
            <a:ext cx="1847803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111827"/>
                </a:solidFill>
                <a:latin typeface="Inter"/>
                <a:rFonts ascii="Inter" hAnsi="Inter" eastAsia="Inter" cs="Inter"/>
              </a:rPr>
              <a:t>Our Solution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05432" y="289560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34026" y="2781300"/>
            <a:ext cx="3733706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315" b="1">
                <a:solidFill>
                  <a:srgbClr val="2563EB"/>
                </a:solidFill>
                <a:latin typeface="Inter"/>
                <a:rFonts ascii="Inter" hAnsi="Inter" eastAsia="Inter" cs="Inter"/>
              </a:rPr>
              <a:t>Unified real-time monitoring</a:t>
            </a:r>
            <a:r>
              <a:rPr sz="1315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platform 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05432" y="3419474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34026" y="3305174"/>
            <a:ext cx="461950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Consolidates </a:t>
            </a:r>
            <a:r>
              <a:rPr sz="1315" b="1">
                <a:solidFill>
                  <a:srgbClr val="2563EB"/>
                </a:solidFill>
                <a:latin typeface="Inter"/>
                <a:rFonts ascii="Inter" hAnsi="Inter" eastAsia="Inter" cs="Inter"/>
              </a:rPr>
              <a:t>Traffic, AQI, Water Usage, Alerts</a:t>
            </a:r>
            <a:r>
              <a:rPr sz="1315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05432" y="3952874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34026" y="3838574"/>
            <a:ext cx="401944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315" b="1">
                <a:solidFill>
                  <a:srgbClr val="2563EB"/>
                </a:solidFill>
                <a:latin typeface="Inter"/>
                <a:rFonts ascii="Inter" hAnsi="Inter" eastAsia="Inter" cs="Inter"/>
              </a:rPr>
              <a:t>One interactive interface</a:t>
            </a:r>
            <a:r>
              <a:rPr sz="1315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for all domains 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05432" y="4486275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34026" y="4371975"/>
            <a:ext cx="390515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315" b="1">
                <a:solidFill>
                  <a:srgbClr val="2563EB"/>
                </a:solidFill>
                <a:latin typeface="Inter"/>
                <a:rFonts ascii="Inter" hAnsi="Inter" eastAsia="Inter" cs="Inter"/>
              </a:rPr>
              <a:t>Real-time decision-making</a:t>
            </a:r>
            <a:r>
              <a:rPr sz="1315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capabilities 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05432" y="5010149"/>
            <a:ext cx="4876678" cy="638175"/>
          </a:xfrm>
          <a:prstGeom prst="roundRect">
            <a:avLst>
              <a:gd name="adj" fmla="val 2388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6452385" y="5263196"/>
            <a:ext cx="6381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934026" y="5245417"/>
            <a:ext cx="228594" cy="17716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276918" y="5200650"/>
            <a:ext cx="3162220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D4ED8"/>
                </a:solidFill>
                <a:latin typeface="Inter"/>
                <a:rFonts ascii="Inter" hAnsi="Inter" eastAsia="Inter" cs="Inter"/>
              </a:rPr>
              <a:t>Single Dashboard. Complete Visibility.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2E8F0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14300"/>
            <a:ext cx="2428814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11827"/>
                </a:solidFill>
                <a:latin typeface="Inter"/>
                <a:rFonts ascii="Inter" hAnsi="Inter" eastAsia="Inter" cs="Inter"/>
              </a:rPr>
              <a:t>Key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400175"/>
            <a:ext cx="5333866" cy="2286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330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377" y="1743075"/>
            <a:ext cx="609584" cy="609600"/>
          </a:xfrm>
          <a:prstGeom prst="roundRect">
            <a:avLst>
              <a:gd name="adj" fmla="val 375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47723" y="1914853"/>
            <a:ext cx="342891" cy="2660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14457" y="1743075"/>
            <a:ext cx="3924201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780"/>
              </a:spcAft>
            </a:pPr>
            <a:r>
              <a:rPr sz="1674" b="1">
                <a:solidFill>
                  <a:srgbClr val="111827"/>
                </a:solidFill>
                <a:latin typeface="Inter"/>
                <a:rFonts ascii="Inter" hAnsi="Inter" eastAsia="Inter" cs="Inter"/>
              </a:rPr>
              <a:t>Unified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14457" y="2257425"/>
            <a:ext cx="3924201" cy="6191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Real-time monitoring for all </a:t>
            </a:r>
            <a:r>
              <a:rPr sz="1196" b="1">
                <a:solidFill>
                  <a:srgbClr val="2563EB"/>
                </a:solidFill>
                <a:latin typeface="Inter"/>
                <a:rFonts ascii="Inter" hAnsi="Inter" eastAsia="Inter" cs="Inter"/>
              </a:rPr>
              <a:t>20 Smart Cities Mission</a:t>
            </a:r>
            <a:r>
              <a:rPr sz="119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cities from a single interface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243" y="1400175"/>
            <a:ext cx="5333866" cy="2286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3302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53036" y="1743075"/>
            <a:ext cx="609584" cy="609600"/>
          </a:xfrm>
          <a:prstGeom prst="roundRect">
            <a:avLst>
              <a:gd name="adj" fmla="val 375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86382" y="1888249"/>
            <a:ext cx="342891" cy="31925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53116" y="1743075"/>
            <a:ext cx="3924201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780"/>
              </a:spcAft>
            </a:pPr>
            <a:r>
              <a:rPr sz="1674" b="1">
                <a:solidFill>
                  <a:srgbClr val="111827"/>
                </a:solidFill>
                <a:latin typeface="Inter"/>
                <a:rFonts ascii="Inter" hAnsi="Inter" eastAsia="Inter" cs="Inter"/>
              </a:rPr>
              <a:t>Live Multi-Domain Tracking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53116" y="2257425"/>
            <a:ext cx="3924201" cy="9334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Track </a:t>
            </a:r>
            <a:r>
              <a:rPr sz="1196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Traffic Congestion, AQI, and Water Consumption</a:t>
            </a:r>
            <a:r>
              <a:rPr sz="119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simultaneously with live sensor data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584" y="3981449"/>
            <a:ext cx="5333866" cy="2286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3302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377" y="4324349"/>
            <a:ext cx="609584" cy="609600"/>
          </a:xfrm>
          <a:prstGeom prst="roundRect">
            <a:avLst>
              <a:gd name="adj" fmla="val 37500"/>
            </a:avLst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47723" y="4496128"/>
            <a:ext cx="342891" cy="26604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714457" y="4324349"/>
            <a:ext cx="3924201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780"/>
              </a:spcAft>
            </a:pPr>
            <a:r>
              <a:rPr sz="1674" b="1">
                <a:solidFill>
                  <a:srgbClr val="111827"/>
                </a:solidFill>
                <a:latin typeface="Inter"/>
                <a:rFonts ascii="Inter" hAnsi="Inter" eastAsia="Inter" cs="Inter"/>
              </a:rPr>
              <a:t>Interactive Map Visualization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14457" y="4838699"/>
            <a:ext cx="3924201" cy="9334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  <a:r>
              <a:rPr sz="1196" b="1">
                <a:solidFill>
                  <a:srgbClr val="9333EA"/>
                </a:solidFill>
                <a:latin typeface="Inter"/>
                <a:rFonts ascii="Inter" hAnsi="Inter" eastAsia="Inter" cs="Inter"/>
              </a:rPr>
              <a:t>Leaflet.js maps</a:t>
            </a:r>
            <a:r>
              <a:rPr sz="119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with colour-coded city markers, heatmap overlays, and clickable city popups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8243" y="3981449"/>
            <a:ext cx="5333866" cy="2286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3302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53036" y="4324349"/>
            <a:ext cx="609584" cy="609600"/>
          </a:xfrm>
          <a:prstGeom prst="roundRect">
            <a:avLst>
              <a:gd name="adj" fmla="val 37500"/>
            </a:avLst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686382" y="4487260"/>
            <a:ext cx="342891" cy="28377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53116" y="4324349"/>
            <a:ext cx="3924201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780"/>
              </a:spcAft>
            </a:pPr>
            <a:r>
              <a:rPr sz="1674" b="1">
                <a:solidFill>
                  <a:srgbClr val="111827"/>
                </a:solidFill>
                <a:latin typeface="Inter"/>
                <a:rFonts ascii="Inter" hAnsi="Inter" eastAsia="Inter" cs="Inter"/>
              </a:rPr>
              <a:t>Actionable Alert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53116" y="4838699"/>
            <a:ext cx="3924201" cy="6191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Surface </a:t>
            </a:r>
            <a:r>
              <a:rPr sz="1196" b="1">
                <a:solidFill>
                  <a:srgbClr val="EA580C"/>
                </a:solidFill>
                <a:latin typeface="Inter"/>
                <a:rFonts ascii="Inter" hAnsi="Inter" eastAsia="Inter" cs="Inter"/>
              </a:rPr>
              <a:t>traffic incidents, water leaks, and AQI breaches</a:t>
            </a:r>
            <a:r>
              <a:rPr sz="119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to operators in real time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2E8F0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14300"/>
            <a:ext cx="376228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11827"/>
                </a:solidFill>
                <a:latin typeface="Inter"/>
                <a:rFonts ascii="Inter" hAnsi="Inter" eastAsia="Inter" cs="Inter"/>
              </a:rPr>
              <a:t>Dashboard in Action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229094" y="3714750"/>
            <a:ext cx="1733506" cy="228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229094" y="3714750"/>
            <a:ext cx="1733506" cy="228600"/>
          </a:xfrm>
          <a:prstGeom prst="roundRect">
            <a:avLst>
              <a:gd name="adj" fmla="val 66666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Image failed to load:</a:t>
            </a:r>
          </a:p>
          <a:p>
            <a:r>
              <a:t>https://z-cdn-media.chatglm.cn/files/fb8f91b9-973d...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1980" y="1419225"/>
            <a:ext cx="2743131" cy="1752599"/>
          </a:xfrm>
          <a:prstGeom prst="roundRect">
            <a:avLst>
              <a:gd name="adj" fmla="val 13043"/>
            </a:avLst>
          </a:prstGeom>
          <a:solidFill>
            <a:srgbClr val="FFFF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 Same Side Corner Rectangle 5"/>
          <p:cNvSpPr/>
          <p:nvPr/>
        </p:nvSpPr>
        <p:spPr>
          <a:xfrm rot="16200000">
            <a:off x="-48279" y="2229484"/>
            <a:ext cx="17525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90575" y="1673542"/>
            <a:ext cx="228594" cy="1771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95367" y="1638299"/>
            <a:ext cx="170493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11827"/>
                </a:solidFill>
                <a:latin typeface="Inter"/>
                <a:rFonts ascii="Inter" hAnsi="Inter" eastAsia="Inter" cs="Inter"/>
              </a:rPr>
              <a:t>Real-Time KPI Cards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90575" y="2093041"/>
            <a:ext cx="171445" cy="13826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38219" y="2047874"/>
            <a:ext cx="201924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Traffic: </a:t>
            </a:r>
            <a:r>
              <a:rPr sz="956" b="1">
                <a:solidFill>
                  <a:srgbClr val="374151"/>
                </a:solidFill>
                <a:latin typeface="Roboto Mono"/>
                <a:rFonts ascii="Roboto Mono" hAnsi="Roboto Mono" eastAsia="Roboto Mono" cs="Roboto Mono"/>
              </a:rPr>
              <a:t>2,808/hr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(Medium)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90575" y="2438707"/>
            <a:ext cx="171445" cy="13273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38219" y="2390774"/>
            <a:ext cx="137156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AQI: </a:t>
            </a:r>
            <a:r>
              <a:rPr sz="956" b="1">
                <a:solidFill>
                  <a:srgbClr val="374151"/>
                </a:solidFill>
                <a:latin typeface="Roboto Mono"/>
                <a:rFonts ascii="Roboto Mono" hAnsi="Roboto Mono" eastAsia="Roboto Mono" cs="Roboto Mono"/>
              </a:rPr>
              <a:t>78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(Moderate)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90575" y="2773311"/>
            <a:ext cx="171445" cy="14932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38219" y="2733674"/>
            <a:ext cx="189542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Water: </a:t>
            </a:r>
            <a:r>
              <a:rPr sz="956" b="1">
                <a:solidFill>
                  <a:srgbClr val="374151"/>
                </a:solidFill>
                <a:latin typeface="Roboto Mono"/>
                <a:rFonts ascii="Roboto Mono" hAnsi="Roboto Mono" eastAsia="Roboto Mono" cs="Roboto Mono"/>
              </a:rPr>
              <a:t>18,497L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(67% full)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582" y="1419225"/>
            <a:ext cx="2743131" cy="1638299"/>
          </a:xfrm>
          <a:prstGeom prst="roundRect">
            <a:avLst>
              <a:gd name="adj" fmla="val 13953"/>
            </a:avLst>
          </a:prstGeom>
          <a:solidFill>
            <a:srgbClr val="FFFF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7933473" y="2172334"/>
            <a:ext cx="16382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915177" y="1693545"/>
            <a:ext cx="228594" cy="13715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219969" y="1638299"/>
            <a:ext cx="1181070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11827"/>
                </a:solidFill>
                <a:latin typeface="Inter"/>
                <a:rFonts ascii="Inter" hAnsi="Inter" eastAsia="Inter" cs="Inter"/>
              </a:rPr>
              <a:t>Live Analytics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177" y="2105024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67573" y="2028825"/>
            <a:ext cx="131441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Traffic flow trends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5177" y="2409825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67573" y="2333624"/>
            <a:ext cx="139061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AQI 24h monitoring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177" y="2714625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67573" y="2638425"/>
            <a:ext cx="203829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Water consumption patterns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1980" y="4238624"/>
            <a:ext cx="2743131" cy="2009774"/>
          </a:xfrm>
          <a:prstGeom prst="roundRect">
            <a:avLst>
              <a:gd name="adj" fmla="val 11374"/>
            </a:avLst>
          </a:prstGeom>
          <a:solidFill>
            <a:srgbClr val="FFFF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 Same Side Corner Rectangle 25"/>
          <p:cNvSpPr/>
          <p:nvPr/>
        </p:nvSpPr>
        <p:spPr>
          <a:xfrm rot="16200000">
            <a:off x="-176867" y="5177471"/>
            <a:ext cx="20097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90575" y="4485798"/>
            <a:ext cx="228594" cy="19145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95367" y="4457700"/>
            <a:ext cx="108582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11827"/>
                </a:solidFill>
                <a:latin typeface="Inter"/>
                <a:rFonts ascii="Inter" hAnsi="Inter" eastAsia="Inter" cs="Inter"/>
              </a:rPr>
              <a:t>Active Alerts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0575" y="4848225"/>
            <a:ext cx="723881" cy="695325"/>
          </a:xfrm>
          <a:prstGeom prst="roundRect">
            <a:avLst>
              <a:gd name="adj" fmla="val 10958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6773" y="4924424"/>
            <a:ext cx="571485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DC2626"/>
                </a:solidFill>
                <a:latin typeface="Roboto Mono"/>
                <a:rFonts ascii="Roboto Mono" hAnsi="Roboto Mono" eastAsia="Roboto Mono" cs="Roboto Mono"/>
              </a:rPr>
              <a:t>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6773" y="5267324"/>
            <a:ext cx="57148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Total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790655" y="4848225"/>
            <a:ext cx="723881" cy="695325"/>
          </a:xfrm>
          <a:prstGeom prst="roundRect">
            <a:avLst>
              <a:gd name="adj" fmla="val 10958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66853" y="4924424"/>
            <a:ext cx="571485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6A34A"/>
                </a:solidFill>
                <a:latin typeface="Roboto Mono"/>
                <a:rFonts ascii="Roboto Mono" hAnsi="Roboto Mono" eastAsia="Roboto Mono" cs="Roboto Mono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66853" y="5267324"/>
            <a:ext cx="57148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Resolved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590735" y="4848225"/>
            <a:ext cx="723881" cy="695325"/>
          </a:xfrm>
          <a:prstGeom prst="roundRect">
            <a:avLst>
              <a:gd name="adj" fmla="val 10958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66933" y="4924424"/>
            <a:ext cx="571485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EA580C"/>
                </a:solidFill>
                <a:latin typeface="Roboto Mono"/>
                <a:rFonts ascii="Roboto Mono" hAnsi="Roboto Mono" eastAsia="Roboto Mono" cs="Roboto Mono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66933" y="5267324"/>
            <a:ext cx="57148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Active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0575" y="5657850"/>
            <a:ext cx="2324041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Priority alerts for accidents, leaks &amp; breaches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86582" y="4457700"/>
            <a:ext cx="2743131" cy="1790700"/>
          </a:xfrm>
          <a:prstGeom prst="roundRect">
            <a:avLst>
              <a:gd name="adj" fmla="val 12765"/>
            </a:avLst>
          </a:prstGeom>
          <a:solidFill>
            <a:srgbClr val="FFFF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 rot="16200000">
            <a:off x="7857272" y="5287010"/>
            <a:ext cx="17907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915177" y="4692015"/>
            <a:ext cx="228594" cy="21717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219969" y="4667249"/>
            <a:ext cx="108582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11827"/>
                </a:solidFill>
                <a:latin typeface="Inter"/>
                <a:rFonts ascii="Inter" hAnsi="Inter" eastAsia="Inter" cs="Inter"/>
              </a:rPr>
              <a:t>Live Updates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915177" y="5221236"/>
            <a:ext cx="171445" cy="149327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162820" y="5067299"/>
            <a:ext cx="2076398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Auto-refresh every </a:t>
            </a:r>
            <a:r>
              <a:rPr sz="956" b="1">
                <a:solidFill>
                  <a:srgbClr val="374151"/>
                </a:solidFill>
                <a:latin typeface="Roboto Mono"/>
                <a:rFonts ascii="Roboto Mono" hAnsi="Roboto Mono" eastAsia="Roboto Mono" cs="Roboto Mono"/>
              </a:rPr>
              <a:t>2-3 seconds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915177" y="5749105"/>
            <a:ext cx="171445" cy="160388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162820" y="5600700"/>
            <a:ext cx="2076398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WebSocket push notifications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2E8F0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14300"/>
            <a:ext cx="4228994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11827"/>
                </a:solidFill>
                <a:latin typeface="Inter"/>
                <a:rFonts ascii="Inter" hAnsi="Inter" eastAsia="Inter" cs="Inter"/>
              </a:rPr>
              <a:t>Technical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188" y="1038224"/>
            <a:ext cx="11277318" cy="962024"/>
          </a:xfrm>
          <a:prstGeom prst="roundRect">
            <a:avLst>
              <a:gd name="adj" fmla="val 23762"/>
            </a:avLst>
          </a:prstGeom>
          <a:solidFill>
            <a:srgbClr val="FFFFFF"/>
          </a:solidFill>
          <a:ln w="3302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7683" y="1314450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61980" y="1471612"/>
            <a:ext cx="228594" cy="1428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57268" y="1266824"/>
            <a:ext cx="2047823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11827"/>
                </a:solidFill>
                <a:latin typeface="Inter"/>
                <a:rFonts ascii="Inter" hAnsi="Inter" eastAsia="Inter" cs="Inter"/>
              </a:rPr>
              <a:t>Layer 4: 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7268" y="1581149"/>
            <a:ext cx="204782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End Consumers &amp; Operators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3657508" y="1454467"/>
            <a:ext cx="228594" cy="1771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962300" y="1409699"/>
            <a:ext cx="1552536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City Administrators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733906" y="1460182"/>
            <a:ext cx="228594" cy="16573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8699" y="1409699"/>
            <a:ext cx="1428714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National Monitors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696007" y="1454467"/>
            <a:ext cx="228594" cy="1771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000799" y="1409699"/>
            <a:ext cx="108582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Field Officers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315217" y="1454467"/>
            <a:ext cx="228594" cy="1771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620009" y="1409699"/>
            <a:ext cx="1924001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Emergency Responders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952976" y="2145846"/>
            <a:ext cx="285742" cy="204107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57188" y="2505074"/>
            <a:ext cx="11277318" cy="1190625"/>
          </a:xfrm>
          <a:prstGeom prst="roundRect">
            <a:avLst>
              <a:gd name="adj" fmla="val 19200"/>
            </a:avLst>
          </a:prstGeom>
          <a:solidFill>
            <a:srgbClr val="FFFFFF"/>
          </a:solidFill>
          <a:ln w="330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7683" y="2895600"/>
            <a:ext cx="361940" cy="457200"/>
          </a:xfrm>
          <a:prstGeom prst="roundRect">
            <a:avLst>
              <a:gd name="adj" fmla="val 42105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714357" y="3041332"/>
            <a:ext cx="228594" cy="16573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62020" y="2733674"/>
            <a:ext cx="2781230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11827"/>
                </a:solidFill>
                <a:latin typeface="Inter"/>
                <a:rFonts ascii="Inter" hAnsi="Inter" eastAsia="Inter" cs="Inter"/>
              </a:rPr>
              <a:t>Layer 3: React Frontend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2020" y="3047999"/>
            <a:ext cx="2781230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Single Page Application (SPA) with Live Updates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3943251" y="3035617"/>
            <a:ext cx="228594" cy="17716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248043" y="2990849"/>
            <a:ext cx="1952576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Interactive Leaflet Maps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429214" y="3052762"/>
            <a:ext cx="228594" cy="14287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734006" y="2990849"/>
            <a:ext cx="168588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SVG Charts (Bar/Pie)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8648483" y="3042761"/>
            <a:ext cx="228594" cy="16287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953276" y="2990849"/>
            <a:ext cx="1181070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Live KPI Cards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10362940" y="3028473"/>
            <a:ext cx="228594" cy="19145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0667733" y="2990849"/>
            <a:ext cx="876278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Alert Panel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952976" y="3841296"/>
            <a:ext cx="285742" cy="204107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457188" y="4200525"/>
            <a:ext cx="11277318" cy="962024"/>
          </a:xfrm>
          <a:prstGeom prst="roundRect">
            <a:avLst>
              <a:gd name="adj" fmla="val 23762"/>
            </a:avLst>
          </a:prstGeom>
          <a:solidFill>
            <a:srgbClr val="FFFFFF"/>
          </a:solidFill>
          <a:ln w="3302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7683" y="4476750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761980" y="4616767"/>
            <a:ext cx="228594" cy="17716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257268" y="4429125"/>
            <a:ext cx="3276518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11827"/>
                </a:solidFill>
                <a:latin typeface="Inter"/>
                <a:rFonts ascii="Inter" hAnsi="Inter" eastAsia="Inter" cs="Inter"/>
              </a:rPr>
              <a:t>Layer 2: Node.js Backend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57268" y="4743450"/>
            <a:ext cx="327651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Event-Driven Server with WebSocket Support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4762380" y="4622482"/>
            <a:ext cx="228594" cy="16573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067173" y="4572000"/>
            <a:ext cx="1419189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Data Aggregation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6714957" y="4612481"/>
            <a:ext cx="228594" cy="185737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019749" y="4572000"/>
            <a:ext cx="1333466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Alert Processing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8581810" y="4596765"/>
            <a:ext cx="228594" cy="21717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886602" y="4572000"/>
            <a:ext cx="752456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REST API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7">
            <a:alphaModFix amt="100000"/>
          </a:blip>
          <a:stretch>
            <a:fillRect/>
          </a:stretch>
        </p:blipFill>
        <p:spPr>
          <a:xfrm>
            <a:off x="9867653" y="4593907"/>
            <a:ext cx="228594" cy="22288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172445" y="4572000"/>
            <a:ext cx="1371565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WebSocket Push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952976" y="5308146"/>
            <a:ext cx="285742" cy="204107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457188" y="5667374"/>
            <a:ext cx="11277318" cy="962024"/>
          </a:xfrm>
          <a:prstGeom prst="roundRect">
            <a:avLst>
              <a:gd name="adj" fmla="val 23762"/>
            </a:avLst>
          </a:prstGeom>
          <a:solidFill>
            <a:srgbClr val="FFFFFF"/>
          </a:solidFill>
          <a:ln w="3302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47683" y="5943600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8">
            <a:alphaModFix amt="100000"/>
          </a:blip>
          <a:stretch>
            <a:fillRect/>
          </a:stretch>
        </p:blipFill>
        <p:spPr>
          <a:xfrm>
            <a:off x="761980" y="6097905"/>
            <a:ext cx="228594" cy="148589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257268" y="5895974"/>
            <a:ext cx="2190695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11827"/>
                </a:solidFill>
                <a:latin typeface="Inter"/>
                <a:rFonts ascii="Inter" hAnsi="Inter" eastAsia="Inter" cs="Inter"/>
              </a:rPr>
              <a:t>Layer 1: Data Sources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57268" y="6210299"/>
            <a:ext cx="219069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IoT Sensors &amp; External APIs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9">
            <a:alphaModFix amt="100000"/>
          </a:blip>
          <a:stretch>
            <a:fillRect/>
          </a:stretch>
        </p:blipFill>
        <p:spPr>
          <a:xfrm>
            <a:off x="5524361" y="6083617"/>
            <a:ext cx="228594" cy="177164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5829154" y="6038849"/>
            <a:ext cx="1847803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IoT Sensors (20 Cities)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20">
            <a:alphaModFix amt="100000"/>
          </a:blip>
          <a:stretch>
            <a:fillRect/>
          </a:stretch>
        </p:blipFill>
        <p:spPr>
          <a:xfrm>
            <a:off x="7896027" y="6086475"/>
            <a:ext cx="228594" cy="17145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8200819" y="6038849"/>
            <a:ext cx="1219169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CPCB AQI APIs</a:t>
            </a:r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21">
            <a:alphaModFix amt="100000"/>
          </a:blip>
          <a:stretch>
            <a:fillRect/>
          </a:stretch>
        </p:blipFill>
        <p:spPr>
          <a:xfrm>
            <a:off x="9658108" y="6083617"/>
            <a:ext cx="228594" cy="177164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9962900" y="6038849"/>
            <a:ext cx="1581110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NRSC Satellite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2E8F0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0"/>
            <a:ext cx="326699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11827"/>
                </a:solidFill>
                <a:latin typeface="Inter"/>
                <a:rFonts ascii="Inter" hAnsi="Inter" eastAsia="Inter" cs="Inter"/>
              </a:rPr>
              <a:t>Impact &amp; Benefits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188" y="904874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533386" y="1009649"/>
            <a:ext cx="228594" cy="171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2476" y="895350"/>
            <a:ext cx="3495587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111827"/>
                </a:solidFill>
                <a:latin typeface="Inter"/>
                <a:rFonts ascii="Inter" hAnsi="Inter" eastAsia="Inter" cs="Inter"/>
              </a:rPr>
              <a:t>What the System Achieves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188" y="1523999"/>
            <a:ext cx="5410064" cy="125730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-105422" y="2086609"/>
            <a:ext cx="12573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782" y="1714500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1874463"/>
            <a:ext cx="190495" cy="1372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95367" y="1714500"/>
            <a:ext cx="438139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111827"/>
                </a:solidFill>
                <a:latin typeface="Inter"/>
                <a:rFonts ascii="Inter" hAnsi="Inter" eastAsia="Inter" cs="Inter"/>
              </a:rPr>
              <a:t>Instant Data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5367" y="2076449"/>
            <a:ext cx="4381390" cy="5143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Decision-makers get national urban health data within </a:t>
            </a:r>
            <a:r>
              <a:rPr sz="1076" b="1">
                <a:solidFill>
                  <a:srgbClr val="2563EB"/>
                </a:solidFill>
                <a:latin typeface="Roboto Mono"/>
                <a:rFonts ascii="Roboto Mono" hAnsi="Roboto Mono" eastAsia="Roboto Mono" cs="Roboto Mono"/>
              </a:rPr>
              <a:t>3 seconds</a:t>
            </a:r>
            <a:r>
              <a:rPr sz="107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of loading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188" y="2933699"/>
            <a:ext cx="5410064" cy="125730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-105422" y="3496309"/>
            <a:ext cx="12573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782" y="3124200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9129" y="3272958"/>
            <a:ext cx="190495" cy="15968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95367" y="3124200"/>
            <a:ext cx="438139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111827"/>
                </a:solidFill>
                <a:latin typeface="Inter"/>
                <a:rFonts ascii="Inter" hAnsi="Inter" eastAsia="Inter" cs="Inter"/>
              </a:rPr>
              <a:t>Prioritized Alerts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5367" y="3486150"/>
            <a:ext cx="4381390" cy="5143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Field teams receive prioritized alerts for accidents, water leaks, and AQI emergencies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188" y="4343400"/>
            <a:ext cx="5410064" cy="1514475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-234009" y="5034597"/>
            <a:ext cx="15144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782" y="4533900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19129" y="4686860"/>
            <a:ext cx="190495" cy="15127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95367" y="4533900"/>
            <a:ext cx="438139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111827"/>
                </a:solidFill>
                <a:latin typeface="Inter"/>
                <a:rFonts ascii="Inter" hAnsi="Inter" eastAsia="Inter" cs="Inter"/>
              </a:rPr>
              <a:t>Visualized Insights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5367" y="4895849"/>
            <a:ext cx="4381390" cy="7715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Urban planners identify pollution hotspots, congestion patterns, and water anomalies via trend charts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188" y="6010274"/>
            <a:ext cx="5410064" cy="125730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-105422" y="6572884"/>
            <a:ext cx="12573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5782" y="6200775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19129" y="6339727"/>
            <a:ext cx="190495" cy="17929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95367" y="6200775"/>
            <a:ext cx="438139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111827"/>
                </a:solidFill>
                <a:latin typeface="Inter"/>
                <a:rFonts ascii="Inter" hAnsi="Inter" eastAsia="Inter" cs="Inter"/>
              </a:rPr>
              <a:t>API Integration Ready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95367" y="6562725"/>
            <a:ext cx="4381390" cy="5143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Foundation for integration with CPCB, NRSC, and Smart City IC3 Command Centres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24441" y="904874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400639" y="992505"/>
            <a:ext cx="228594" cy="20573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819729" y="895350"/>
            <a:ext cx="2133546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111827"/>
                </a:solidFill>
                <a:latin typeface="Inter"/>
                <a:rFonts ascii="Inter" hAnsi="Inter" eastAsia="Inter" cs="Inter"/>
              </a:rPr>
              <a:t>Key Advantages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24441" y="1523999"/>
            <a:ext cx="5410064" cy="447675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553036" y="1845944"/>
            <a:ext cx="228594" cy="19430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895927" y="1752599"/>
            <a:ext cx="4371865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Unified real-time interface</a:t>
            </a:r>
            <a:r>
              <a:rPr sz="119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for all urban domains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553036" y="2341245"/>
            <a:ext cx="228594" cy="194309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895927" y="2247899"/>
            <a:ext cx="4609984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Zero-dependency prototype</a:t>
            </a:r>
            <a:r>
              <a:rPr sz="119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— single HTML5 file, immediate deployment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553036" y="2969895"/>
            <a:ext cx="228594" cy="19430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895927" y="2876549"/>
            <a:ext cx="4609984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Scalable design</a:t>
            </a:r>
            <a:r>
              <a:rPr sz="119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— migration path to React + Node.js production system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553036" y="3598545"/>
            <a:ext cx="228594" cy="194309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895927" y="3505199"/>
            <a:ext cx="4609984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Interactive Leaflet.js maps</a:t>
            </a:r>
            <a:r>
              <a:rPr sz="119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with AQI heatmaps and clickable city popups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553036" y="4227195"/>
            <a:ext cx="228594" cy="194309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895927" y="4133849"/>
            <a:ext cx="4609984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Covers all 20</a:t>
            </a:r>
            <a:r>
              <a:rPr sz="119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India Smart Cities Mission cities with city-level data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53036" y="5086350"/>
            <a:ext cx="1552536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2563EB"/>
                </a:solidFill>
                <a:latin typeface="Roboto Mono"/>
                <a:rFonts ascii="Roboto Mono" hAnsi="Roboto Mono" eastAsia="Roboto Mono" cs="Roboto Mono"/>
              </a:rPr>
              <a:t>20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53036" y="5543550"/>
            <a:ext cx="155253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Cities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57968" y="5086350"/>
            <a:ext cx="1552536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2563EB"/>
                </a:solidFill>
                <a:latin typeface="Roboto Mono"/>
                <a:rFonts ascii="Roboto Mono" hAnsi="Roboto Mono" eastAsia="Roboto Mono" cs="Roboto Mono"/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57968" y="5543550"/>
            <a:ext cx="155253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Domains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53376" y="5086350"/>
            <a:ext cx="1552536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2563EB"/>
                </a:solidFill>
                <a:latin typeface="Roboto Mono"/>
                <a:rFonts ascii="Roboto Mono" hAnsi="Roboto Mono" eastAsia="Roboto Mono" cs="Roboto Mono"/>
              </a:rPr>
              <a:t>3s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53376" y="5543550"/>
            <a:ext cx="155253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Load 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2E8F0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14300"/>
            <a:ext cx="303839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11827"/>
                </a:solidFill>
                <a:latin typeface="Inter"/>
                <a:rFonts ascii="Inter" hAnsi="Inter" eastAsia="Inter" cs="Inter"/>
              </a:rPr>
              <a:t>Future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188" y="1038224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533386" y="1135856"/>
            <a:ext cx="228594" cy="1857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2476" y="1047749"/>
            <a:ext cx="2324041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111827"/>
                </a:solidFill>
                <a:latin typeface="Inter"/>
                <a:rFonts ascii="Inter" hAnsi="Inter" eastAsia="Inter" cs="Inter"/>
              </a:rPr>
              <a:t>Current Limitations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188" y="1609724"/>
            <a:ext cx="3533686" cy="819149"/>
          </a:xfrm>
          <a:prstGeom prst="roundRect">
            <a:avLst>
              <a:gd name="adj" fmla="val 1860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113654" y="1953258"/>
            <a:ext cx="819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47683" y="1843087"/>
            <a:ext cx="228594" cy="1428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90575" y="1762125"/>
            <a:ext cx="2847903" cy="5143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Simulated data — not connected to live CPCB/NRSC APIs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188" y="2543175"/>
            <a:ext cx="3533686" cy="819149"/>
          </a:xfrm>
          <a:prstGeom prst="roundRect">
            <a:avLst>
              <a:gd name="adj" fmla="val 1860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113654" y="2886709"/>
            <a:ext cx="819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47683" y="2776537"/>
            <a:ext cx="228594" cy="1428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90575" y="2695575"/>
            <a:ext cx="2847903" cy="5143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No backend authentication or data persistence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188" y="3476624"/>
            <a:ext cx="3533686" cy="819149"/>
          </a:xfrm>
          <a:prstGeom prst="roundRect">
            <a:avLst>
              <a:gd name="adj" fmla="val 1860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113654" y="3820158"/>
            <a:ext cx="819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47683" y="3709987"/>
            <a:ext cx="228594" cy="1428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90575" y="3629025"/>
            <a:ext cx="2847903" cy="5143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Street-level traffic map covers Bengaluru only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188" y="4410074"/>
            <a:ext cx="3533686" cy="57150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237478" y="4629784"/>
            <a:ext cx="571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47683" y="4643437"/>
            <a:ext cx="228594" cy="14287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90575" y="4562475"/>
            <a:ext cx="251453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No mobile app for field officers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48063" y="1038224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524261" y="1132998"/>
            <a:ext cx="228594" cy="19145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943351" y="1047749"/>
            <a:ext cx="1981150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111827"/>
                </a:solidFill>
                <a:latin typeface="Inter"/>
                <a:rFonts ascii="Inter" hAnsi="Inter" eastAsia="Inter" cs="Inter"/>
              </a:rPr>
              <a:t>Future Roadmap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48063" y="1609724"/>
            <a:ext cx="3571785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 Same Side Corner Rectangle 25"/>
          <p:cNvSpPr/>
          <p:nvPr/>
        </p:nvSpPr>
        <p:spPr>
          <a:xfrm rot="16200000">
            <a:off x="3942603" y="2115184"/>
            <a:ext cx="11430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638559" y="1762125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43331" y="1800225"/>
            <a:ext cx="9524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2563EB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19549" y="1790700"/>
            <a:ext cx="1571585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11827"/>
                </a:solidFill>
                <a:latin typeface="Inter"/>
                <a:rFonts ascii="Inter" hAnsi="Inter" eastAsia="Inter" cs="Inter"/>
              </a:rPr>
              <a:t>Production 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38559" y="2143125"/>
            <a:ext cx="3228894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React + Node.js with live CPCB/NRSC API integration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62720" y="1609724"/>
            <a:ext cx="3571785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 rot="16200000">
            <a:off x="7657260" y="2115184"/>
            <a:ext cx="11430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353216" y="1762125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7988" y="1800225"/>
            <a:ext cx="9524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34206" y="1790700"/>
            <a:ext cx="1657308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11827"/>
                </a:solidFill>
                <a:latin typeface="Inter"/>
                <a:rFonts ascii="Inter" hAnsi="Inter" eastAsia="Inter" cs="Inter"/>
              </a:rPr>
              <a:t>Predictive Analytics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53216" y="2143125"/>
            <a:ext cx="3228894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ML-based AQI forecasting &amp; traffic prediction models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48063" y="2905124"/>
            <a:ext cx="3571785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 Same Side Corner Rectangle 37"/>
          <p:cNvSpPr/>
          <p:nvPr/>
        </p:nvSpPr>
        <p:spPr>
          <a:xfrm rot="16200000">
            <a:off x="3942603" y="3410584"/>
            <a:ext cx="11430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638559" y="3057525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33806" y="3095625"/>
            <a:ext cx="10477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9333EA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19549" y="3086100"/>
            <a:ext cx="942951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11827"/>
                </a:solidFill>
                <a:latin typeface="Inter"/>
                <a:rFonts ascii="Inter" hAnsi="Inter" eastAsia="Inter" cs="Inter"/>
              </a:rPr>
              <a:t>Mobile App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38559" y="3438525"/>
            <a:ext cx="3228894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React Native app for field officers &amp; emergency responders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62720" y="2905124"/>
            <a:ext cx="3571785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 rot="16200000">
            <a:off x="7657260" y="3410584"/>
            <a:ext cx="11430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353216" y="3057525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57988" y="3095625"/>
            <a:ext cx="9524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EA580C"/>
                </a:solidFill>
                <a:latin typeface="Inter"/>
                <a:rFonts ascii="Inter" hAnsi="Inter" eastAsia="Inter" cs="Inter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34206" y="3086100"/>
            <a:ext cx="2390715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11827"/>
                </a:solidFill>
                <a:latin typeface="Inter"/>
                <a:rFonts ascii="Inter" hAnsi="Inter" eastAsia="Inter" cs="Inter"/>
              </a:rPr>
              <a:t>Command Centre Integration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53216" y="3438525"/>
            <a:ext cx="3228894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NUIS and Smart City IC3 Command Centres connectivity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448063" y="4238624"/>
            <a:ext cx="7286442" cy="9144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 Same Side Corner Rectangle 49"/>
          <p:cNvSpPr/>
          <p:nvPr/>
        </p:nvSpPr>
        <p:spPr>
          <a:xfrm rot="16200000">
            <a:off x="4056903" y="4629784"/>
            <a:ext cx="9144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638559" y="4391025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33806" y="4429125"/>
            <a:ext cx="9524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19549" y="4419600"/>
            <a:ext cx="188590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11827"/>
                </a:solidFill>
                <a:latin typeface="Inter"/>
                <a:rFonts ascii="Inter" hAnsi="Inter" eastAsia="Inter" cs="Inter"/>
              </a:rPr>
              <a:t>Security &amp; Compliance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38559" y="4772025"/>
            <a:ext cx="694355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DPDPA 2023 compliance and end-to-end TLS 1.3 encryption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448063" y="5381624"/>
            <a:ext cx="7286442" cy="781050"/>
          </a:xfrm>
          <a:prstGeom prst="roundRect">
            <a:avLst>
              <a:gd name="adj" fmla="val 29268"/>
            </a:avLst>
          </a:prstGeom>
          <a:gradFill rotWithShape="1">
            <a:gsLst>
              <a:gs pos="0">
                <a:srgbClr val="2563EB"/>
              </a:gs>
              <a:gs pos="100000">
                <a:srgbClr val="9333E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638559" y="5572125"/>
            <a:ext cx="6905452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Smarter Cities. Safer Citizens. Sustainable Future.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